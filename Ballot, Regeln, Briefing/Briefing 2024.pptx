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4" r:id="rId5"/>
    <p:sldId id="261" r:id="rId6"/>
    <p:sldId id="265" r:id="rId7"/>
  </p:sldIdLst>
  <p:sldSz cx="13004800" cy="9753600"/>
  <p:notesSz cx="6858000" cy="9144000"/>
  <p:defaultTextStyle>
    <a:lvl1pPr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1pPr>
    <a:lvl2pPr indent="3429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2pPr>
    <a:lvl3pPr indent="6858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3pPr>
    <a:lvl4pPr indent="10287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4pPr>
    <a:lvl5pPr indent="13716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5pPr>
    <a:lvl6pPr indent="17145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6pPr>
    <a:lvl7pPr indent="20574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7pPr>
    <a:lvl8pPr indent="24003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8pPr>
    <a:lvl9pPr indent="2743200" algn="ctr" defTabSz="457200">
      <a:defRPr sz="4200">
        <a:solidFill>
          <a:srgbClr val="FFFFFF"/>
        </a:solidFill>
        <a:latin typeface="+mn-lt"/>
        <a:ea typeface="+mn-ea"/>
        <a:cs typeface="+mn-cs"/>
        <a:sym typeface="Chalkboard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2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Row>
  </a:tblStyle>
  <a:tblStyle styleId="{C7B018BB-80A7-4F77-B60F-C8B233D01FF8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4B13F">
              <a:alpha val="90000"/>
            </a:srgbClr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882B"/>
          </a:solidFill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8BC"/>
          </a:solidFill>
        </a:fill>
      </a:tcStyle>
    </a:firstRow>
  </a:tblStyle>
  <a:tblStyle styleId="{EEE7283C-3CF3-47DC-8721-378D4A62B228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54545">
              <a:alpha val="41000"/>
            </a:srgbClr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>
        <a:font>
          <a:latin typeface="Chalkduster"/>
          <a:ea typeface="Chalkduster"/>
          <a:cs typeface="Chalkduster"/>
        </a:font>
        <a:srgbClr val="282A2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D5C">
              <a:alpha val="82000"/>
            </a:srgbClr>
          </a:solidFill>
        </a:fill>
      </a:tcStyle>
    </a:firstRow>
  </a:tblStyle>
  <a:tblStyle styleId="{CF821DB8-F4EB-4A41-A1BA-3FCAFE7338EE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B285"/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87B7"/>
          </a:solidFill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254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7A8DB2"/>
          </a:solidFill>
        </a:fill>
      </a:tcStyle>
    </a:firstRow>
  </a:tblStyle>
  <a:tblStyle styleId="{33BA23B1-9221-436E-865A-0063620EA4FD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EDEDF">
              <a:alpha val="19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444C55">
              <a:alpha val="50000"/>
            </a:srgbClr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firstRow>
  </a:tblStyle>
  <a:tblStyle styleId="{2708684C-4D16-4618-839F-0558EEFCDFE6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/>
    <p:restoredTop sz="94674"/>
  </p:normalViewPr>
  <p:slideViewPr>
    <p:cSldViewPr snapToGrid="0">
      <p:cViewPr varScale="1">
        <p:scale>
          <a:sx n="87" d="100"/>
          <a:sy n="87" d="100"/>
        </p:scale>
        <p:origin x="2056" y="20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5" name="Shape 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4350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defRPr>
        <a:latin typeface="Lucida Grande"/>
        <a:ea typeface="Lucida Grande"/>
        <a:cs typeface="Lucida Grande"/>
        <a:sym typeface="Lucida Grande"/>
      </a:defRPr>
    </a:lvl1pPr>
    <a:lvl2pPr indent="228600" defTabSz="457200">
      <a:defRPr>
        <a:latin typeface="Lucida Grande"/>
        <a:ea typeface="Lucida Grande"/>
        <a:cs typeface="Lucida Grande"/>
        <a:sym typeface="Lucida Grande"/>
      </a:defRPr>
    </a:lvl2pPr>
    <a:lvl3pPr indent="457200" defTabSz="457200">
      <a:defRPr>
        <a:latin typeface="Lucida Grande"/>
        <a:ea typeface="Lucida Grande"/>
        <a:cs typeface="Lucida Grande"/>
        <a:sym typeface="Lucida Grande"/>
      </a:defRPr>
    </a:lvl3pPr>
    <a:lvl4pPr indent="685800" defTabSz="457200">
      <a:defRPr>
        <a:latin typeface="Lucida Grande"/>
        <a:ea typeface="Lucida Grande"/>
        <a:cs typeface="Lucida Grande"/>
        <a:sym typeface="Lucida Grande"/>
      </a:defRPr>
    </a:lvl4pPr>
    <a:lvl5pPr indent="914400" defTabSz="457200">
      <a:defRPr>
        <a:latin typeface="Lucida Grande"/>
        <a:ea typeface="Lucida Grande"/>
        <a:cs typeface="Lucida Grande"/>
        <a:sym typeface="Lucida Grande"/>
      </a:defRPr>
    </a:lvl5pPr>
    <a:lvl6pPr indent="1143000" defTabSz="457200">
      <a:defRPr>
        <a:latin typeface="Lucida Grande"/>
        <a:ea typeface="Lucida Grande"/>
        <a:cs typeface="Lucida Grande"/>
        <a:sym typeface="Lucida Grande"/>
      </a:defRPr>
    </a:lvl6pPr>
    <a:lvl7pPr indent="1371600" defTabSz="457200">
      <a:defRPr>
        <a:latin typeface="Lucida Grande"/>
        <a:ea typeface="Lucida Grande"/>
        <a:cs typeface="Lucida Grande"/>
        <a:sym typeface="Lucida Grande"/>
      </a:defRPr>
    </a:lvl7pPr>
    <a:lvl8pPr indent="1600200" defTabSz="457200">
      <a:defRPr>
        <a:latin typeface="Lucida Grande"/>
        <a:ea typeface="Lucida Grande"/>
        <a:cs typeface="Lucida Grande"/>
        <a:sym typeface="Lucida Grande"/>
      </a:defRPr>
    </a:lvl8pPr>
    <a:lvl9pPr indent="1828800" defTabSz="457200">
      <a:defRPr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2020: 17, 2021: 18, 2022: 19, 2023: 20, 2024: 21</a:t>
            </a:r>
          </a:p>
        </p:txBody>
      </p:sp>
    </p:spTree>
    <p:extLst>
      <p:ext uri="{BB962C8B-B14F-4D97-AF65-F5344CB8AC3E}">
        <p14:creationId xmlns:p14="http://schemas.microsoft.com/office/powerpoint/2010/main" val="341653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points = {</a:t>
            </a:r>
            <a:r>
              <a:rPr lang="en-GB" dirty="0">
                <a:solidFill>
                  <a:srgbClr val="6897BB"/>
                </a:solidFill>
                <a:effectLst/>
              </a:rPr>
              <a:t>4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6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5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7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6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40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7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93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8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132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9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278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10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305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11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256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12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204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13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77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14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16</a:t>
            </a:r>
            <a:r>
              <a:rPr lang="en-GB" dirty="0">
                <a:solidFill>
                  <a:srgbClr val="CC7832"/>
                </a:solidFill>
                <a:effectLst/>
              </a:rPr>
              <a:t>, </a:t>
            </a:r>
            <a:r>
              <a:rPr lang="en-GB" dirty="0">
                <a:solidFill>
                  <a:srgbClr val="6897BB"/>
                </a:solidFill>
                <a:effectLst/>
              </a:rPr>
              <a:t>15</a:t>
            </a:r>
            <a:r>
              <a:rPr lang="en-GB" dirty="0"/>
              <a:t>:</a:t>
            </a:r>
            <a:r>
              <a:rPr lang="en-GB" dirty="0">
                <a:solidFill>
                  <a:srgbClr val="6897BB"/>
                </a:solidFill>
                <a:effectLst/>
              </a:rPr>
              <a:t>2</a:t>
            </a:r>
            <a:r>
              <a:rPr lang="en-GB" dirty="0"/>
              <a:t>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5951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1270000" y="2565400"/>
            <a:ext cx="10464800" cy="2540000"/>
          </a:xfrm>
          <a:prstGeom prst="rect">
            <a:avLst/>
          </a:prstGeom>
        </p:spPr>
        <p:txBody>
          <a:bodyPr lIns="0" tIns="0" rIns="0" bIns="0"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1270000" y="5207000"/>
            <a:ext cx="10464800" cy="1460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 numCol="2" spcCol="523240" anchor="t"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1270000" y="1066800"/>
            <a:ext cx="10464800" cy="7620000"/>
          </a:xfrm>
          <a:prstGeom prst="rect">
            <a:avLst/>
          </a:prstGeom>
        </p:spPr>
        <p:txBody>
          <a:bodyPr/>
          <a:lstStyle>
            <a:lvl1pPr>
              <a:spcBef>
                <a:spcPts val="6000"/>
              </a:spcBef>
              <a:buBlip>
                <a:blip r:embed="rId2"/>
              </a:buBlip>
            </a:lvl1pPr>
            <a:lvl2pPr>
              <a:spcBef>
                <a:spcPts val="6000"/>
              </a:spcBef>
              <a:buBlip>
                <a:blip r:embed="rId2"/>
              </a:buBlip>
            </a:lvl2pPr>
            <a:lvl3pPr>
              <a:spcBef>
                <a:spcPts val="6000"/>
              </a:spcBef>
              <a:buBlip>
                <a:blip r:embed="rId2"/>
              </a:buBlip>
            </a:lvl3pPr>
            <a:lvl4pPr>
              <a:spcBef>
                <a:spcPts val="6000"/>
              </a:spcBef>
              <a:buBlip>
                <a:blip r:embed="rId2"/>
              </a:buBlip>
            </a:lvl4pPr>
            <a:lvl5pPr>
              <a:spcBef>
                <a:spcPts val="6000"/>
              </a:spcBef>
              <a:buBlip>
                <a:blip r:embed="rId2"/>
              </a:buBlip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1270000" y="3606800"/>
            <a:ext cx="10464800" cy="2540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7366000"/>
            <a:ext cx="10464800" cy="18288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596900" y="1790700"/>
            <a:ext cx="6032500" cy="30480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6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0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596900" y="4940300"/>
            <a:ext cx="6032500" cy="30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0" algn="ctr">
              <a:spcBef>
                <a:spcPts val="0"/>
              </a:spcBef>
              <a:buSzTx/>
              <a:buNone/>
              <a:defRPr sz="3200"/>
            </a:lvl2pPr>
            <a:lvl3pPr marL="0" indent="0" algn="ctr">
              <a:spcBef>
                <a:spcPts val="0"/>
              </a:spcBef>
              <a:buSzTx/>
              <a:buNone/>
              <a:defRPr sz="3200"/>
            </a:lvl3pPr>
            <a:lvl4pPr marL="0" indent="0" algn="ctr">
              <a:spcBef>
                <a:spcPts val="0"/>
              </a:spcBef>
              <a:buSzTx/>
              <a:buNone/>
              <a:defRPr sz="3200"/>
            </a:lvl4pPr>
            <a:lvl5pPr marL="0" indent="0" algn="ctr">
              <a:spcBef>
                <a:spcPts val="0"/>
              </a:spcBef>
              <a:buSzTx/>
              <a:buNone/>
              <a:defRPr sz="3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27" name="Shape 27"/>
          <p:cNvSpPr>
            <a:spLocks noGrp="1"/>
          </p:cNvSpPr>
          <p:nvPr>
            <p:ph type="body" idx="1"/>
          </p:nvPr>
        </p:nvSpPr>
        <p:spPr>
          <a:xfrm>
            <a:off x="1270000" y="2946400"/>
            <a:ext cx="5105400" cy="5740400"/>
          </a:xfrm>
          <a:prstGeom prst="rect">
            <a:avLst/>
          </a:prstGeom>
        </p:spPr>
        <p:txBody>
          <a:bodyPr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xfrm>
            <a:off x="1270000" y="2946400"/>
            <a:ext cx="5105400" cy="5740400"/>
          </a:xfrm>
          <a:prstGeom prst="rect">
            <a:avLst/>
          </a:prstGeom>
        </p:spPr>
        <p:txBody>
          <a:bodyPr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3" name="Shape 33"/>
          <p:cNvSpPr>
            <a:spLocks noGrp="1"/>
          </p:cNvSpPr>
          <p:nvPr>
            <p:ph type="body" idx="1"/>
          </p:nvPr>
        </p:nvSpPr>
        <p:spPr>
          <a:xfrm>
            <a:off x="7607300" y="2946400"/>
            <a:ext cx="4127500" cy="5740400"/>
          </a:xfrm>
          <a:prstGeom prst="rect">
            <a:avLst/>
          </a:prstGeom>
        </p:spPr>
        <p:txBody>
          <a:bodyPr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270000" y="203200"/>
            <a:ext cx="104648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270000" y="2946400"/>
            <a:ext cx="10464800" cy="574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>
              <a:buBlip>
                <a:blip r:embed="rId15"/>
              </a:buBlip>
            </a:lvl1pPr>
            <a:lvl2pPr>
              <a:buBlip>
                <a:blip r:embed="rId15"/>
              </a:buBlip>
            </a:lvl2pPr>
            <a:lvl3pPr>
              <a:buBlip>
                <a:blip r:embed="rId15"/>
              </a:buBlip>
            </a:lvl3pPr>
            <a:lvl4pPr>
              <a:buBlip>
                <a:blip r:embed="rId15"/>
              </a:buBlip>
            </a:lvl4pPr>
            <a:lvl5pPr>
              <a:buBlip>
                <a:blip r:embed="rId15"/>
              </a:buBlip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1pPr>
      <a:lvl2pPr indent="2286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2pPr>
      <a:lvl3pPr indent="4572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3pPr>
      <a:lvl4pPr indent="6858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4pPr>
      <a:lvl5pPr indent="9144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5pPr>
      <a:lvl6pPr indent="11430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6pPr>
      <a:lvl7pPr indent="13716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7pPr>
      <a:lvl8pPr indent="16002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8pPr>
      <a:lvl9pPr indent="1828800" algn="ctr" defTabSz="457200">
        <a:defRPr sz="7200">
          <a:solidFill>
            <a:srgbClr val="FFFFFF"/>
          </a:solidFill>
          <a:latin typeface="+mn-lt"/>
          <a:ea typeface="+mn-ea"/>
          <a:cs typeface="+mn-cs"/>
          <a:sym typeface="Chalkboard"/>
        </a:defRPr>
      </a:lvl9pPr>
    </p:titleStyle>
    <p:bodyStyle>
      <a:lvl1pPr marL="8936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1pPr>
      <a:lvl2pPr marL="14397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2pPr>
      <a:lvl3pPr marL="19731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3pPr>
      <a:lvl4pPr marL="25446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4pPr>
      <a:lvl5pPr marL="31288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5pPr>
      <a:lvl6pPr marL="34844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6pPr>
      <a:lvl7pPr marL="38400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7pPr>
      <a:lvl8pPr marL="41956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8pPr>
      <a:lvl9pPr marL="4551297" indent="-436497" defTabSz="457200">
        <a:spcBef>
          <a:spcPts val="3000"/>
        </a:spcBef>
        <a:buSzPct val="43000"/>
        <a:buBlip>
          <a:blip r:embed="rId15"/>
        </a:buBlip>
        <a:defRPr sz="3600">
          <a:solidFill>
            <a:srgbClr val="FFFFFF"/>
          </a:solidFill>
          <a:latin typeface="+mn-lt"/>
          <a:ea typeface="+mn-ea"/>
          <a:cs typeface="+mn-cs"/>
          <a:sym typeface="Chalkboard"/>
        </a:defRPr>
      </a:lvl9pPr>
    </p:bodyStyle>
    <p:otherStyle>
      <a:lvl1pPr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1pPr>
      <a:lvl2pPr indent="2286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2pPr>
      <a:lvl3pPr indent="4572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3pPr>
      <a:lvl4pPr indent="6858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4pPr>
      <a:lvl5pPr indent="9144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5pPr>
      <a:lvl6pPr indent="11430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6pPr>
      <a:lvl7pPr indent="13716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7pPr>
      <a:lvl8pPr indent="16002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8pPr>
      <a:lvl9pPr indent="1828800" algn="ctr" defTabSz="457200">
        <a:defRPr>
          <a:solidFill>
            <a:schemeClr val="tx1"/>
          </a:solidFill>
          <a:latin typeface="+mn-lt"/>
          <a:ea typeface="+mn-ea"/>
          <a:cs typeface="+mn-cs"/>
          <a:sym typeface="Chalkbo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title"/>
          </p:nvPr>
        </p:nvSpPr>
        <p:spPr>
          <a:xfrm>
            <a:off x="1270000" y="3606800"/>
            <a:ext cx="10464800" cy="2540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7200" b="1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21</a:t>
            </a:r>
            <a:r>
              <a:rPr sz="7200" b="1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. </a:t>
            </a:r>
            <a:r>
              <a:rPr lang="de-DE" sz="7200" b="1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D</a:t>
            </a:r>
            <a:r>
              <a:rPr lang="de-DE" sz="7200" b="1" dirty="0">
                <a:solidFill>
                  <a:schemeClr val="tx1"/>
                </a:solidFill>
                <a:latin typeface="The Mix" pitchFamily="2" charset="0"/>
                <a:cs typeface="Arial" panose="020B0604020202020204" pitchFamily="34" charset="0"/>
              </a:rPr>
              <a:t>DG </a:t>
            </a:r>
            <a:r>
              <a:rPr sz="7200" b="1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Masters</a:t>
            </a:r>
            <a:r>
              <a:rPr lang="de-DE" sz="7200" b="1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'</a:t>
            </a:r>
            <a:r>
              <a:rPr sz="7200" b="1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 Cup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06" y="930450"/>
            <a:ext cx="8116645" cy="119213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1C9ED63-3C5F-5099-0DED-7FCE57780B83}"/>
              </a:ext>
            </a:extLst>
          </p:cNvPr>
          <p:cNvSpPr>
            <a:spLocks noChangeAspect="1"/>
          </p:cNvSpPr>
          <p:nvPr/>
        </p:nvSpPr>
        <p:spPr>
          <a:xfrm rot="614235">
            <a:off x="10280926" y="7528091"/>
            <a:ext cx="2520000" cy="2308225"/>
          </a:xfrm>
          <a:prstGeom prst="ellipse">
            <a:avLst/>
          </a:prstGeom>
          <a:solidFill>
            <a:srgbClr val="FDB116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1" hangingPunct="0">
              <a:lnSpc>
                <a:spcPts val="404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DE" sz="7200" u="none" strike="noStrike" spc="0" normalizeH="0" dirty="0">
                <a:ln>
                  <a:noFill/>
                </a:ln>
                <a:solidFill>
                  <a:srgbClr val="FFFFFF"/>
                </a:solidFill>
                <a:uFillTx/>
                <a:latin typeface="The Mix" pitchFamily="2" charset="0"/>
                <a:sym typeface="Chalkboard"/>
              </a:rPr>
              <a:t>21</a:t>
            </a:r>
          </a:p>
          <a:p>
            <a:pPr marL="0" marR="0" indent="0" algn="ctr" defTabSz="457200" rtl="0" fontAlgn="auto" latinLnBrk="1" hangingPunct="0">
              <a:lnSpc>
                <a:spcPts val="404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DE" dirty="0">
                <a:latin typeface="The Mix" pitchFamily="2" charset="0"/>
              </a:rPr>
              <a:t>Jahre</a:t>
            </a:r>
          </a:p>
          <a:p>
            <a:pPr marL="0" marR="0" indent="0" algn="ctr" defTabSz="457200" rtl="0" fontAlgn="auto" latinLnBrk="1" hangingPunct="0">
              <a:lnSpc>
                <a:spcPts val="404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DE" sz="4200" u="none" strike="noStrike" spc="0" normalizeH="0" dirty="0">
                <a:ln>
                  <a:noFill/>
                </a:ln>
                <a:solidFill>
                  <a:srgbClr val="FFFFFF"/>
                </a:solidFill>
                <a:uFillTx/>
                <a:latin typeface="The Mix" pitchFamily="2" charset="0"/>
                <a:sym typeface="Chalkboard"/>
              </a:rPr>
              <a:t>DDG!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/>
          </p:cNvSpPr>
          <p:nvPr>
            <p:ph type="title"/>
          </p:nvPr>
        </p:nvSpPr>
        <p:spPr>
          <a:xfrm>
            <a:off x="1270000" y="670859"/>
            <a:ext cx="10464800" cy="1518024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sz="7200" dirty="0">
                <a:solidFill>
                  <a:srgbClr val="FFFFFF"/>
                </a:solidFill>
                <a:latin typeface="The Mix Bold" pitchFamily="2" charset="0"/>
                <a:cs typeface="Arial" panose="020B0604020202020204" pitchFamily="34" charset="0"/>
              </a:rPr>
              <a:t>Regeln</a:t>
            </a:r>
          </a:p>
        </p:txBody>
      </p:sp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942041" y="2447364"/>
            <a:ext cx="11120718" cy="6145306"/>
          </a:xfrm>
          <a:prstGeom prst="rect">
            <a:avLst/>
          </a:prstGeom>
        </p:spPr>
        <p:txBody>
          <a:bodyPr/>
          <a:lstStyle/>
          <a:p>
            <a:pPr lvl="0"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4 Vorrunden, </a:t>
            </a:r>
            <a:b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</a:b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Halbfinale, Finale</a:t>
            </a:r>
          </a:p>
          <a:p>
            <a:pPr lvl="0"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Teampartner und Position werden zugelost</a:t>
            </a:r>
          </a:p>
          <a:p>
            <a:pPr lvl="0"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15 Minuten Vorbereitungszeit</a:t>
            </a:r>
          </a:p>
          <a:p>
            <a:pPr lvl="0"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7 Minuten Redezeit</a:t>
            </a:r>
          </a:p>
          <a:p>
            <a:pPr lvl="0"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2. bis 6. Minute: Zwischenfragen erlaubt </a:t>
            </a:r>
            <a:b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</a:b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(max. 15 s )</a:t>
            </a:r>
          </a:p>
          <a:p>
            <a:pPr lvl="0"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40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Zwischenrufe stets erlaubt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body" idx="1"/>
          </p:nvPr>
        </p:nvSpPr>
        <p:spPr>
          <a:xfrm>
            <a:off x="658905" y="2504965"/>
            <a:ext cx="11725835" cy="574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768579" lvl="0" indent="-375387" defTabSz="393192">
              <a:spcBef>
                <a:spcPts val="25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3500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  <a:t>Inhalt: Argumentative Leistung</a:t>
            </a:r>
            <a:br>
              <a:rPr lang="de-DE" sz="3500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</a:br>
            <a:r>
              <a:rPr lang="de-DE" sz="3500" dirty="0" err="1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Weiss</a:t>
            </a:r>
            <a: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 der Redner, worüber er spricht? </a:t>
            </a:r>
            <a:b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</a:br>
            <a: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Kennt er die wesentlichen Fakten und Argumente?</a:t>
            </a:r>
          </a:p>
          <a:p>
            <a:pPr marL="768579" lvl="0" indent="-375387" defTabSz="393192">
              <a:spcBef>
                <a:spcPts val="25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3500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  <a:t>Strategie: Strategische Leistung</a:t>
            </a:r>
            <a:br>
              <a:rPr lang="de-DE" sz="3500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</a:br>
            <a: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Hat der Redner seine Rede geschickt strukturiert? </a:t>
            </a:r>
            <a:b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</a:br>
            <a: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Arbeitet er mit seinem Teampartner zusammen?</a:t>
            </a:r>
          </a:p>
          <a:p>
            <a:pPr marL="768579" lvl="0" indent="-375387" defTabSz="393192">
              <a:spcBef>
                <a:spcPts val="25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3500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  <a:t>Form: Ästhetische Leistung</a:t>
            </a:r>
            <a:br>
              <a:rPr lang="de-DE" sz="3500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</a:br>
            <a:r>
              <a:rPr lang="de-DE" sz="3500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Überzeugt der Redner durch sprachliche Eleganz? Unterstützen Gestik, Mimik und Stimme die unter Inhalt bewertete Aussage?</a:t>
            </a:r>
          </a:p>
        </p:txBody>
      </p:sp>
      <p:sp>
        <p:nvSpPr>
          <p:cNvPr id="4" name="Shape 41">
            <a:extLst>
              <a:ext uri="{FF2B5EF4-FFF2-40B4-BE49-F238E27FC236}">
                <a16:creationId xmlns:a16="http://schemas.microsoft.com/office/drawing/2014/main" id="{4767C43F-B103-019E-F5E8-C4A7F6E7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670859"/>
            <a:ext cx="10464800" cy="1518024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sz="7200" dirty="0">
                <a:solidFill>
                  <a:srgbClr val="FFFFFF"/>
                </a:solidFill>
                <a:latin typeface="The Mix Bold" pitchFamily="2" charset="0"/>
                <a:cs typeface="Arial" panose="020B0604020202020204" pitchFamily="34" charset="0"/>
              </a:rPr>
              <a:t>Bewertung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title"/>
          </p:nvPr>
        </p:nvSpPr>
        <p:spPr>
          <a:xfrm>
            <a:off x="1270000" y="3302000"/>
            <a:ext cx="10464800" cy="2540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sz="8800" dirty="0">
                <a:solidFill>
                  <a:srgbClr val="FFFFFF"/>
                </a:solidFill>
                <a:latin typeface="The Mix Bold" pitchFamily="2" charset="0"/>
                <a:cs typeface="Arial" panose="020B0604020202020204" pitchFamily="34" charset="0"/>
              </a:rPr>
              <a:t>Fragen?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idx="1"/>
          </p:nvPr>
        </p:nvSpPr>
        <p:spPr>
          <a:xfrm>
            <a:off x="1270000" y="2444935"/>
            <a:ext cx="10464800" cy="5740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741768" lvl="0" indent="-362292" defTabSz="379475">
              <a:spcBef>
                <a:spcPts val="24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Jedes Kriterium: </a:t>
            </a:r>
            <a:r>
              <a:rPr lang="de-DE" sz="2988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  <a:t>0 bis 15 Punkte</a:t>
            </a:r>
            <a:endParaRPr lang="de-DE" sz="2988" dirty="0">
              <a:solidFill>
                <a:srgbClr val="FFFFFF"/>
              </a:solidFill>
              <a:latin typeface="The Mix" pitchFamily="2" charset="0"/>
              <a:cs typeface="Arial" panose="020B0604020202020204" pitchFamily="34" charset="0"/>
            </a:endParaRPr>
          </a:p>
          <a:p>
            <a:pPr marL="741768" lvl="0" indent="-362292" defTabSz="379475">
              <a:spcBef>
                <a:spcPts val="24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Zwischenfragen und -rufe dabei berücksichtigen</a:t>
            </a:r>
          </a:p>
          <a:p>
            <a:pPr marL="741768" lvl="0" indent="-362292" defTabSz="379475">
              <a:spcBef>
                <a:spcPts val="24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Einzeljuror: </a:t>
            </a:r>
            <a:r>
              <a:rPr lang="de-DE" sz="2988" u="sng" dirty="0">
                <a:solidFill>
                  <a:srgbClr val="FFFFFF"/>
                </a:solidFill>
                <a:uFill>
                  <a:solidFill>
                    <a:srgbClr val="FFE822"/>
                  </a:solidFill>
                </a:uFill>
                <a:latin typeface="The Mix" pitchFamily="2" charset="0"/>
                <a:cs typeface="Arial" panose="020B0604020202020204" pitchFamily="34" charset="0"/>
              </a:rPr>
              <a:t>Addiert die Punkte pro Kategorie</a:t>
            </a: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 &amp; kommt auf max. 45 Punkte für eine Rede</a:t>
            </a:r>
          </a:p>
          <a:p>
            <a:pPr marL="741768" lvl="0" indent="-362292" defTabSz="379475">
              <a:spcBef>
                <a:spcPts val="24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Aufs Ballot gehört nur die Summe je Juror </a:t>
            </a:r>
            <a:b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</a:b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(als Kontrollsumme), nicht das Mittel über alle Juroren</a:t>
            </a:r>
          </a:p>
          <a:p>
            <a:pPr marL="741768" lvl="0" indent="-362292" defTabSz="379475">
              <a:spcBef>
                <a:spcPts val="2400"/>
              </a:spcBef>
              <a:buBlip>
                <a:blip r:embed="rId2"/>
              </a:buBlip>
              <a:defRPr sz="1800">
                <a:solidFill>
                  <a:srgbClr val="000000"/>
                </a:solidFill>
              </a:defRPr>
            </a:pPr>
            <a:r>
              <a:rPr lang="de-DE" sz="2988" dirty="0">
                <a:solidFill>
                  <a:srgbClr val="FFFFFF"/>
                </a:solidFill>
                <a:latin typeface="The Mix" pitchFamily="2" charset="0"/>
                <a:cs typeface="Arial" panose="020B0604020202020204" pitchFamily="34" charset="0"/>
              </a:rPr>
              <a:t>Elektronisches Ballot ausfüllen, aber auch Paper Ballot zum Tabmaster</a:t>
            </a:r>
          </a:p>
        </p:txBody>
      </p:sp>
      <p:sp>
        <p:nvSpPr>
          <p:cNvPr id="8" name="Shape 41">
            <a:extLst>
              <a:ext uri="{FF2B5EF4-FFF2-40B4-BE49-F238E27FC236}">
                <a16:creationId xmlns:a16="http://schemas.microsoft.com/office/drawing/2014/main" id="{7D28CDB2-88B4-7695-E7BA-ED77622F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670859"/>
            <a:ext cx="10464800" cy="1518024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sz="7200" dirty="0">
                <a:solidFill>
                  <a:srgbClr val="FFFFFF"/>
                </a:solidFill>
                <a:latin typeface="The Mix Bold" pitchFamily="2" charset="0"/>
                <a:cs typeface="Arial" panose="020B0604020202020204" pitchFamily="34" charset="0"/>
              </a:rPr>
              <a:t>Für Juroren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title"/>
          </p:nvPr>
        </p:nvSpPr>
        <p:spPr>
          <a:xfrm>
            <a:off x="901788" y="203200"/>
            <a:ext cx="11237660" cy="2540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sz="5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Empirische Punkteverteilung</a:t>
            </a:r>
            <a:br>
              <a:rPr lang="de-DE" sz="5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5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(2020–22)</a:t>
            </a:r>
          </a:p>
        </p:txBody>
      </p:sp>
      <p:sp>
        <p:nvSpPr>
          <p:cNvPr id="8" name="Shape 70">
            <a:extLst>
              <a:ext uri="{FF2B5EF4-FFF2-40B4-BE49-F238E27FC236}">
                <a16:creationId xmlns:a16="http://schemas.microsoft.com/office/drawing/2014/main" id="{0C570BB7-0DDD-4E65-88A9-D435A02BA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348" y="8944061"/>
            <a:ext cx="5654971" cy="51080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379476" indent="0" defTabSz="379475">
              <a:spcBef>
                <a:spcPts val="240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2.124; </a:t>
            </a:r>
            <a:r>
              <a:rPr lang="el-GR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9,97; </a:t>
            </a:r>
            <a:r>
              <a:rPr lang="el-GR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1,85</a:t>
            </a:r>
            <a:endParaRPr lang="de-DE" sz="2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AAB209-8DB0-C184-CB4F-52EE8F43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53" y="2514365"/>
            <a:ext cx="11464832" cy="608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07734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board"/>
        <a:ea typeface="Chalkboard"/>
        <a:cs typeface="Chalkboard"/>
      </a:majorFont>
      <a:minorFont>
        <a:latin typeface="Chalkboard"/>
        <a:ea typeface="Chalkboard"/>
        <a:cs typeface="Chalkboard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63500" dir="162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63500" dist="25400" dir="2700000" rotWithShape="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board"/>
        <a:ea typeface="Chalkboard"/>
        <a:cs typeface="Chalkboard"/>
      </a:majorFont>
      <a:minorFont>
        <a:latin typeface="Chalkboard"/>
        <a:ea typeface="Chalkboard"/>
        <a:cs typeface="Chalkboard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63500" dir="162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63500" dist="25400" dir="2700000" rotWithShape="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241</Words>
  <Application>Microsoft Macintosh PowerPoint</Application>
  <PresentationFormat>Custom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Chalkboard</vt:lpstr>
      <vt:lpstr>Gill Sans</vt:lpstr>
      <vt:lpstr>Lucida Grande</vt:lpstr>
      <vt:lpstr>The Mix</vt:lpstr>
      <vt:lpstr>The Mix Bold</vt:lpstr>
      <vt:lpstr>Chalkboard</vt:lpstr>
      <vt:lpstr>21. DDG Masters' Cup</vt:lpstr>
      <vt:lpstr>Regeln</vt:lpstr>
      <vt:lpstr>Bewertung</vt:lpstr>
      <vt:lpstr>Fragen?</vt:lpstr>
      <vt:lpstr>Für Juroren</vt:lpstr>
      <vt:lpstr>Empirische Punkteverteilung (2020–22)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DDG Masters' Cup Briefing</dc:title>
  <dc:creator>DDG</dc:creator>
  <cp:lastModifiedBy>DDG</cp:lastModifiedBy>
  <cp:revision>24</cp:revision>
  <dcterms:modified xsi:type="dcterms:W3CDTF">2024-10-16T16:21:45Z</dcterms:modified>
</cp:coreProperties>
</file>